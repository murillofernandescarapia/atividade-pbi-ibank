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3"/>
  </p:sldMasterIdLst>
  <p:notesMasterIdLst>
    <p:notesMasterId r:id="rId4"/>
  </p:notesMasterIdLst>
  <p:sldIdLst>
    <p:sldId id="256" r:id="rId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_02">
  <p:cSld name="Conteúdo_02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4" name="Google Shape;34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6" name="Google Shape;36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8" name="Google Shape;48;p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9" name="Google Shape;49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6" name="Google Shape;5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.png"/><Relationship Id="rId10" Type="http://schemas.openxmlformats.org/officeDocument/2006/relationships/image" Target="../media/image9.png"/><Relationship Id="rId13" Type="http://schemas.openxmlformats.org/officeDocument/2006/relationships/image" Target="../media/image8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1.png"/><Relationship Id="rId1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/>
          <p:nvPr/>
        </p:nvSpPr>
        <p:spPr>
          <a:xfrm>
            <a:off x="145546" y="1701403"/>
            <a:ext cx="2853910" cy="1233055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A4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rebuchet MS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Situação atual (Justificativa)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rebuchet MS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Chat com preenchimento sólido" id="76" name="Google Shape;7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372" y="1701402"/>
            <a:ext cx="458968" cy="45896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2"/>
          <p:cNvSpPr/>
          <p:nvPr/>
        </p:nvSpPr>
        <p:spPr>
          <a:xfrm>
            <a:off x="3041303" y="1701403"/>
            <a:ext cx="2853910" cy="1233055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A4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rebuchet MS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Produto final desejável</a:t>
            </a:r>
            <a:endParaRPr/>
          </a:p>
        </p:txBody>
      </p:sp>
      <p:sp>
        <p:nvSpPr>
          <p:cNvPr id="78" name="Google Shape;78;p12"/>
          <p:cNvSpPr/>
          <p:nvPr/>
        </p:nvSpPr>
        <p:spPr>
          <a:xfrm>
            <a:off x="145546" y="2968527"/>
            <a:ext cx="2853910" cy="137273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A4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rebuchet MS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Meta e Indicadores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rebuchet MS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9" name="Google Shape;79;p12"/>
          <p:cNvSpPr/>
          <p:nvPr/>
        </p:nvSpPr>
        <p:spPr>
          <a:xfrm>
            <a:off x="3044107" y="2968527"/>
            <a:ext cx="2851106" cy="3720588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A4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rebuchet MS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Requisitos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rebuchet MS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0" name="Google Shape;80;p12"/>
          <p:cNvSpPr/>
          <p:nvPr/>
        </p:nvSpPr>
        <p:spPr>
          <a:xfrm>
            <a:off x="145546" y="4409629"/>
            <a:ext cx="2853910" cy="2279485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A4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rebuchet MS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Benefícios (Futuro)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rebuchet MS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rebuchet MS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rebuchet M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1" name="Google Shape;81;p12"/>
          <p:cNvSpPr/>
          <p:nvPr/>
        </p:nvSpPr>
        <p:spPr>
          <a:xfrm>
            <a:off x="5948650" y="1701402"/>
            <a:ext cx="2587859" cy="235702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A4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rebuchet MS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Stakeholders / Key-users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rebuchet MS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2" name="Google Shape;82;p12"/>
          <p:cNvSpPr/>
          <p:nvPr/>
        </p:nvSpPr>
        <p:spPr>
          <a:xfrm>
            <a:off x="8589946" y="1701402"/>
            <a:ext cx="1786339" cy="235702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A4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rebuchet MS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Premissas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rebuchet MS"/>
              <a:buNone/>
            </a:pPr>
            <a:r>
              <a:t/>
            </a:r>
            <a:endParaRPr b="0" i="0" sz="1100" u="none" cap="none" strike="noStrike">
              <a:solidFill>
                <a:srgbClr val="A41F34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3" name="Google Shape;83;p12"/>
          <p:cNvSpPr/>
          <p:nvPr/>
        </p:nvSpPr>
        <p:spPr>
          <a:xfrm>
            <a:off x="10429722" y="1701402"/>
            <a:ext cx="1644746" cy="235702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A4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rebuchet MS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Riscos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rebuchet MS"/>
              <a:buNone/>
            </a:pPr>
            <a:r>
              <a:t/>
            </a:r>
            <a:endParaRPr b="0" i="0" sz="1100" u="none" cap="none" strike="noStrike">
              <a:solidFill>
                <a:srgbClr val="A41F34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rebuchet MS"/>
              <a:buNone/>
            </a:pPr>
            <a:r>
              <a:t/>
            </a:r>
            <a:endParaRPr b="0" i="0" sz="1100" u="none" cap="none" strike="noStrike">
              <a:solidFill>
                <a:srgbClr val="A41F34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rebuchet MS"/>
              <a:buNone/>
            </a:pPr>
            <a:r>
              <a:t/>
            </a:r>
            <a:endParaRPr b="0" i="0" sz="1100" u="none" cap="none" strike="noStrike">
              <a:solidFill>
                <a:srgbClr val="A41F34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rebuchet MS"/>
              <a:buNone/>
            </a:pPr>
            <a:r>
              <a:t/>
            </a:r>
            <a:endParaRPr b="0" i="0" sz="1100" u="none" cap="none" strike="noStrike">
              <a:solidFill>
                <a:srgbClr val="A41F34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rebuchet MS"/>
              <a:buNone/>
            </a:pPr>
            <a:r>
              <a:t/>
            </a:r>
            <a:endParaRPr b="0" i="0" sz="1100" u="none" cap="none" strike="noStrike">
              <a:solidFill>
                <a:srgbClr val="A41F34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rebuchet MS"/>
              <a:buNone/>
            </a:pPr>
            <a:r>
              <a:t/>
            </a:r>
            <a:endParaRPr b="0" i="0" sz="1100" u="none" cap="none" strike="noStrike">
              <a:solidFill>
                <a:srgbClr val="A41F34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rebuchet MS"/>
              <a:buNone/>
            </a:pPr>
            <a:r>
              <a:t/>
            </a:r>
            <a:endParaRPr b="0" i="0" sz="1100" u="none" cap="none" strike="noStrike">
              <a:solidFill>
                <a:srgbClr val="A41F34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rebuchet MS"/>
              <a:buNone/>
            </a:pPr>
            <a:r>
              <a:t/>
            </a:r>
            <a:endParaRPr b="0" i="0" sz="1100" u="none" cap="none" strike="noStrike">
              <a:solidFill>
                <a:srgbClr val="A41F34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rebuchet MS"/>
              <a:buNone/>
            </a:pPr>
            <a:r>
              <a:t/>
            </a:r>
            <a:endParaRPr b="0" i="0" sz="1100" u="none" cap="none" strike="noStrike">
              <a:solidFill>
                <a:srgbClr val="A41F34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rebuchet MS"/>
              <a:buNone/>
            </a:pPr>
            <a:r>
              <a:t/>
            </a:r>
            <a:endParaRPr b="0" i="0" sz="1100" u="none" cap="none" strike="noStrike">
              <a:solidFill>
                <a:srgbClr val="A41F34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rebuchet MS"/>
              <a:buNone/>
            </a:pPr>
            <a:r>
              <a:t/>
            </a:r>
            <a:endParaRPr b="0" i="0" sz="1200" u="none" cap="none" strike="noStrike">
              <a:solidFill>
                <a:srgbClr val="A41F34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84" name="Google Shape;84;p12"/>
          <p:cNvCxnSpPr/>
          <p:nvPr/>
        </p:nvCxnSpPr>
        <p:spPr>
          <a:xfrm>
            <a:off x="10246407" y="2408273"/>
            <a:ext cx="324741" cy="0"/>
          </a:xfrm>
          <a:prstGeom prst="straightConnector1">
            <a:avLst/>
          </a:prstGeom>
          <a:noFill/>
          <a:ln cap="flat" cmpd="sng" w="9525">
            <a:solidFill>
              <a:srgbClr val="A41E3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5" name="Google Shape;85;p12"/>
          <p:cNvSpPr/>
          <p:nvPr/>
        </p:nvSpPr>
        <p:spPr>
          <a:xfrm>
            <a:off x="8583831" y="4125168"/>
            <a:ext cx="1786340" cy="130476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A4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rebuchet MS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Entregáveis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rebuchet MS"/>
              <a:buNone/>
            </a:pPr>
            <a:r>
              <a:t/>
            </a:r>
            <a:endParaRPr b="0" i="0" sz="1100" u="none" cap="none" strike="noStrike">
              <a:solidFill>
                <a:srgbClr val="A41F34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rebuchet MS"/>
              <a:buNone/>
            </a:pPr>
            <a:r>
              <a:t/>
            </a:r>
            <a:endParaRPr b="0" i="0" sz="1100" u="none" cap="none" strike="noStrike">
              <a:solidFill>
                <a:srgbClr val="A41F34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6" name="Google Shape;86;p12"/>
          <p:cNvSpPr/>
          <p:nvPr/>
        </p:nvSpPr>
        <p:spPr>
          <a:xfrm>
            <a:off x="10426900" y="4125168"/>
            <a:ext cx="1644746" cy="130476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A4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rebuchet MS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Timeline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rebuchet MS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rebuchet MS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7" name="Google Shape;87;p12"/>
          <p:cNvSpPr/>
          <p:nvPr/>
        </p:nvSpPr>
        <p:spPr>
          <a:xfrm>
            <a:off x="5960368" y="4125168"/>
            <a:ext cx="2576141" cy="130476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A4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rebuchet MS"/>
              <a:buNone/>
            </a:pPr>
            <a:r>
              <a:rPr b="0" i="0" lang="pt-BR" sz="115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Equipe do Projeto/Estudo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rebuchet MS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8" name="Google Shape;88;p12"/>
          <p:cNvSpPr/>
          <p:nvPr/>
        </p:nvSpPr>
        <p:spPr>
          <a:xfrm>
            <a:off x="5960368" y="5477111"/>
            <a:ext cx="2981086" cy="1233055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A4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rebuchet MS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Restrições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rebuchet MS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9" name="Google Shape;89;p12"/>
          <p:cNvSpPr/>
          <p:nvPr/>
        </p:nvSpPr>
        <p:spPr>
          <a:xfrm>
            <a:off x="8979798" y="5468722"/>
            <a:ext cx="3091848" cy="1233055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A4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rebuchet MS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Custos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rebuchet MS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Dólar com preenchimento sólido" id="90" name="Google Shape;9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24449" y="5542871"/>
            <a:ext cx="394210" cy="3942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enhum sinal com preenchimento sólido" id="91" name="Google Shape;91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48563" y="5513264"/>
            <a:ext cx="394210" cy="3942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áfico de barras com tendência ascendente com preenchimento sólido" id="92" name="Google Shape;92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4051" y="4434611"/>
            <a:ext cx="394210" cy="3942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ista de Verificação com preenchimento sólido" id="93" name="Google Shape;93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67040" y="3009569"/>
            <a:ext cx="394210" cy="3942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ixa de embalagem aberta com preenchimento sólido" id="94" name="Google Shape;94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183422" y="1794094"/>
            <a:ext cx="394210" cy="3942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ixa com preenchimento sólido" id="95" name="Google Shape;95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643183" y="4174826"/>
            <a:ext cx="394210" cy="3942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viso com preenchimento sólido" id="96" name="Google Shape;96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714260" y="1747748"/>
            <a:ext cx="394210" cy="3942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suários com preenchimento sólido" id="97" name="Google Shape;97;p1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131947" y="1701402"/>
            <a:ext cx="394210" cy="3942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a mosca com preenchimento sólido" id="98" name="Google Shape;98;p1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82985" y="3009569"/>
            <a:ext cx="394210" cy="3942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suários com preenchimento sólido" id="99" name="Google Shape;99;p1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154763" y="4174826"/>
            <a:ext cx="394210" cy="3942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presentação com lista de verificação com preenchimento sólido" id="100" name="Google Shape;100;p1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643383" y="1710456"/>
            <a:ext cx="394210" cy="3942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ronômetro com preenchimento sólido" id="101" name="Google Shape;101;p1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497620" y="4174826"/>
            <a:ext cx="394210" cy="39421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2"/>
          <p:cNvSpPr txBox="1"/>
          <p:nvPr/>
        </p:nvSpPr>
        <p:spPr>
          <a:xfrm>
            <a:off x="239621" y="24085"/>
            <a:ext cx="11784651" cy="7577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000" u="none" cap="none" strike="noStrike">
                <a:solidFill>
                  <a:srgbClr val="A41F34"/>
                </a:solidFill>
                <a:latin typeface="Trebuchet MS"/>
                <a:ea typeface="Trebuchet MS"/>
                <a:cs typeface="Trebuchet MS"/>
                <a:sym typeface="Trebuchet MS"/>
              </a:rPr>
              <a:t>Canvas de entendimento e proposta de valor</a:t>
            </a:r>
            <a:endParaRPr/>
          </a:p>
        </p:txBody>
      </p:sp>
      <p:sp>
        <p:nvSpPr>
          <p:cNvPr id="103" name="Google Shape;103;p12"/>
          <p:cNvSpPr txBox="1"/>
          <p:nvPr/>
        </p:nvSpPr>
        <p:spPr>
          <a:xfrm>
            <a:off x="239621" y="872981"/>
            <a:ext cx="1162041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Nesta atividade iremos montar o canvas de entendimento, utilize as informações dos stakeholders como referência.</a:t>
            </a:r>
            <a:endParaRPr/>
          </a:p>
        </p:txBody>
      </p:sp>
      <p:cxnSp>
        <p:nvCxnSpPr>
          <p:cNvPr id="104" name="Google Shape;104;p12"/>
          <p:cNvCxnSpPr/>
          <p:nvPr/>
        </p:nvCxnSpPr>
        <p:spPr>
          <a:xfrm>
            <a:off x="10246407" y="2855725"/>
            <a:ext cx="324741" cy="0"/>
          </a:xfrm>
          <a:prstGeom prst="straightConnector1">
            <a:avLst/>
          </a:prstGeom>
          <a:noFill/>
          <a:ln cap="flat" cmpd="sng" w="9525">
            <a:solidFill>
              <a:srgbClr val="A41E3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5" name="Google Shape;105;p12"/>
          <p:cNvCxnSpPr/>
          <p:nvPr/>
        </p:nvCxnSpPr>
        <p:spPr>
          <a:xfrm>
            <a:off x="10246407" y="3317217"/>
            <a:ext cx="324741" cy="0"/>
          </a:xfrm>
          <a:prstGeom prst="straightConnector1">
            <a:avLst/>
          </a:prstGeom>
          <a:noFill/>
          <a:ln cap="flat" cmpd="sng" w="9525">
            <a:solidFill>
              <a:srgbClr val="A41E34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